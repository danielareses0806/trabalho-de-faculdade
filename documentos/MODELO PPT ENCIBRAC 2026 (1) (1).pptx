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99" y="2576453"/>
            <a:ext cx="3234906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dirty="0"/>
              <a:t>IMPACTOS DA INTELIGÊNCIA ARTIFICIAL NO DESENVOLVIMENTO COGNITIVO DE ADOLESCENTES</a:t>
            </a:r>
            <a:endParaRPr lang="pt-BR" altLang="pt-BR" sz="30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Daniel Ares Gontijo Pinto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0232" y="5800883"/>
            <a:ext cx="311577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531" y="3345458"/>
            <a:ext cx="167106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dirty="0"/>
              <a:t>Inteligência Artificial; Desenvolvimento Cognitivo; Adolescentes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  <a:endParaRPr lang="pt-BR" altLang="pt-BR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pt-BR" sz="1400" dirty="0"/>
              <a:t>Popularização das </a:t>
            </a:r>
            <a:r>
              <a:rPr lang="pt-BR" sz="1400" dirty="0" err="1"/>
              <a:t>IAs</a:t>
            </a:r>
            <a:r>
              <a:rPr lang="pt-BR" sz="1400" dirty="0"/>
              <a:t> generativas entre os jovens.</a:t>
            </a:r>
          </a:p>
          <a:p>
            <a:pPr lvl="0"/>
            <a:r>
              <a:rPr lang="pt-BR" sz="1400" dirty="0"/>
              <a:t>Adolescência: Fase chave para as funções executivas (atenção, planejamento).</a:t>
            </a:r>
          </a:p>
          <a:p>
            <a:pPr lvl="0"/>
            <a:r>
              <a:rPr lang="pt-BR" sz="1400" b="1" dirty="0"/>
              <a:t>Problema:</a:t>
            </a:r>
            <a:r>
              <a:rPr lang="pt-BR" sz="1400" dirty="0"/>
              <a:t> A facilidade de acesso a respostas prontas compromete a autonomia e o raciocínio?</a:t>
            </a:r>
          </a:p>
          <a:p>
            <a:pPr lvl="0"/>
            <a:r>
              <a:rPr lang="pt-BR" sz="1400" b="1" dirty="0"/>
              <a:t>Justificativa:</a:t>
            </a:r>
            <a:r>
              <a:rPr lang="pt-BR" sz="1400" dirty="0"/>
              <a:t> Necessidade de entender os impactos reais para orientar o uso saudável na educação.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pt-BR" sz="1800" b="1" dirty="0"/>
              <a:t>Objetivo Geral:</a:t>
            </a:r>
            <a:r>
              <a:rPr lang="pt-BR" sz="1800" dirty="0"/>
              <a:t> Analisar os impactos do uso de ferramentas de IA no desenvolvimento cognitivo de adolescentes.</a:t>
            </a:r>
          </a:p>
          <a:p>
            <a:pPr lvl="0"/>
            <a:r>
              <a:rPr lang="pt-BR" sz="1800" b="1" dirty="0"/>
              <a:t>Objetivos Específicos:</a:t>
            </a:r>
            <a:endParaRPr lang="pt-BR" sz="1800" dirty="0"/>
          </a:p>
          <a:p>
            <a:pPr lvl="1"/>
            <a:r>
              <a:rPr lang="pt-BR" sz="1800" dirty="0"/>
              <a:t>Entender a relação entre IA e </a:t>
            </a:r>
            <a:r>
              <a:rPr lang="pt-BR" sz="1800" i="1" dirty="0" err="1"/>
              <a:t>cognitive</a:t>
            </a:r>
            <a:r>
              <a:rPr lang="pt-BR" sz="1800" i="1" dirty="0"/>
              <a:t> </a:t>
            </a:r>
            <a:r>
              <a:rPr lang="pt-BR" sz="1800" i="1" dirty="0" err="1"/>
              <a:t>offloading</a:t>
            </a:r>
            <a:r>
              <a:rPr lang="pt-BR" sz="1800" dirty="0"/>
              <a:t> (terceirização do raciocínio).</a:t>
            </a:r>
          </a:p>
          <a:p>
            <a:pPr lvl="1"/>
            <a:r>
              <a:rPr lang="pt-BR" sz="1800" dirty="0"/>
              <a:t>Verificar os reflexos no pensamento crítico e autonomia.</a:t>
            </a:r>
          </a:p>
          <a:p>
            <a:pPr lvl="1"/>
            <a:r>
              <a:rPr lang="pt-BR" sz="1800" dirty="0"/>
              <a:t>Identificar o papel da escola e da mediação pedagógica.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8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2"/>
            <a:ext cx="6130925" cy="1804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pt-BR" sz="1400" b="1" dirty="0"/>
              <a:t>Tipo de Estudo:</a:t>
            </a:r>
            <a:r>
              <a:rPr lang="pt-BR" sz="1400" dirty="0"/>
              <a:t> Revisão integrativa da literatura.</a:t>
            </a:r>
          </a:p>
          <a:p>
            <a:pPr lvl="0"/>
            <a:r>
              <a:rPr lang="pt-BR" sz="1400" b="1" dirty="0"/>
              <a:t>Abordagem:</a:t>
            </a:r>
            <a:r>
              <a:rPr lang="pt-BR" sz="1400" dirty="0"/>
              <a:t> Qualitativa e teórica.</a:t>
            </a:r>
          </a:p>
          <a:p>
            <a:pPr lvl="0"/>
            <a:r>
              <a:rPr lang="pt-BR" sz="1400" b="1" dirty="0"/>
              <a:t>Recorte Temporal:</a:t>
            </a:r>
            <a:r>
              <a:rPr lang="pt-BR" sz="1400" dirty="0"/>
              <a:t> 2024 a 2026.</a:t>
            </a:r>
          </a:p>
          <a:p>
            <a:pPr lvl="0"/>
            <a:r>
              <a:rPr lang="pt-BR" sz="1400" b="1" dirty="0"/>
              <a:t>Bases:</a:t>
            </a:r>
            <a:r>
              <a:rPr lang="pt-BR" sz="1400" dirty="0"/>
              <a:t> Scopus, Web </a:t>
            </a:r>
            <a:r>
              <a:rPr lang="pt-BR" sz="1400" dirty="0" err="1"/>
              <a:t>of</a:t>
            </a:r>
            <a:r>
              <a:rPr lang="pt-BR" sz="1400" dirty="0"/>
              <a:t> Science, </a:t>
            </a:r>
            <a:r>
              <a:rPr lang="pt-BR" sz="1400" dirty="0" err="1"/>
              <a:t>Frontiers</a:t>
            </a:r>
            <a:r>
              <a:rPr lang="pt-BR" sz="1400" dirty="0"/>
              <a:t> e MDPI.</a:t>
            </a:r>
          </a:p>
          <a:p>
            <a:pPr lvl="0"/>
            <a:r>
              <a:rPr lang="pt-BR" sz="1400" b="1" dirty="0"/>
              <a:t>Critérios:</a:t>
            </a:r>
            <a:r>
              <a:rPr lang="pt-BR" sz="1400" dirty="0"/>
              <a:t> Foco exclusivo na faixa etária de 12 a 18 anos.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pt-BR" sz="1400" b="1" dirty="0"/>
              <a:t>Johan </a:t>
            </a:r>
            <a:r>
              <a:rPr lang="pt-BR" sz="1400" b="1" dirty="0" err="1"/>
              <a:t>Klarin</a:t>
            </a:r>
            <a:r>
              <a:rPr lang="pt-BR" sz="1400" b="1" dirty="0"/>
              <a:t> et al. (2024):</a:t>
            </a:r>
            <a:r>
              <a:rPr lang="pt-BR" sz="1400" dirty="0"/>
              <a:t> A IA como suporte/compensação para alunos com dificuldades em funções executivas (atenção e planejamento).</a:t>
            </a:r>
          </a:p>
          <a:p>
            <a:pPr lvl="0"/>
            <a:r>
              <a:rPr lang="pt-BR" sz="1400" b="1" dirty="0"/>
              <a:t>Piotr Zenon Maik (2026):</a:t>
            </a:r>
            <a:r>
              <a:rPr lang="pt-BR" sz="1400" dirty="0"/>
              <a:t> O risco do </a:t>
            </a:r>
            <a:r>
              <a:rPr lang="pt-BR" sz="1400" i="1" dirty="0" err="1"/>
              <a:t>cognitive</a:t>
            </a:r>
            <a:r>
              <a:rPr lang="pt-BR" sz="1400" i="1" dirty="0"/>
              <a:t> </a:t>
            </a:r>
            <a:r>
              <a:rPr lang="pt-BR" sz="1400" i="1" dirty="0" err="1"/>
              <a:t>offloading</a:t>
            </a:r>
            <a:r>
              <a:rPr lang="pt-BR" sz="1400" dirty="0"/>
              <a:t> e a perda da memória de trabalho pelo uso acrítico.</a:t>
            </a:r>
          </a:p>
          <a:p>
            <a:pPr lvl="0"/>
            <a:r>
              <a:rPr lang="pt-BR" sz="1400" b="1" dirty="0" err="1"/>
              <a:t>Giansanti</a:t>
            </a:r>
            <a:r>
              <a:rPr lang="pt-BR" sz="1400" b="1" dirty="0"/>
              <a:t> &amp; Cosenza (2026):</a:t>
            </a:r>
            <a:r>
              <a:rPr lang="pt-BR" sz="1400" dirty="0"/>
              <a:t> A necessidade de "Alfabetização em IA" (</a:t>
            </a:r>
            <a:r>
              <a:rPr lang="pt-BR" sz="1400" i="1" dirty="0"/>
              <a:t>AI </a:t>
            </a:r>
            <a:r>
              <a:rPr lang="pt-BR" sz="1400" i="1" dirty="0" err="1"/>
              <a:t>Literacy</a:t>
            </a:r>
            <a:r>
              <a:rPr lang="pt-BR" sz="1400" dirty="0"/>
              <a:t>) e o enfraquecimento do pensamento crítico.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/>
            <a:r>
              <a:rPr lang="pt-BR" sz="1400" dirty="0"/>
              <a:t>A IA tem um impacto ambivalente: é útil como suporte, mas arriscada se usada sem limites.</a:t>
            </a:r>
          </a:p>
          <a:p>
            <a:pPr lvl="0"/>
            <a:r>
              <a:rPr lang="pt-BR" sz="1400" dirty="0"/>
              <a:t>O uso passivo terceiriza o raciocínio e inibe o esforço mental necessário para o aprendizado.</a:t>
            </a:r>
          </a:p>
          <a:p>
            <a:pPr lvl="0"/>
            <a:r>
              <a:rPr lang="pt-BR" sz="1400" dirty="0"/>
              <a:t>A tecnologia não é o problema; a falta de mediação, sim.</a:t>
            </a:r>
          </a:p>
          <a:p>
            <a:pPr lvl="0"/>
            <a:r>
              <a:rPr lang="pt-BR" sz="1400" b="1" dirty="0"/>
              <a:t>Recomendação:</a:t>
            </a:r>
            <a:r>
              <a:rPr lang="pt-BR" sz="1400" dirty="0"/>
              <a:t> As escolas precisam de estratégias ativas para ensinar o uso ético e reflexivo da IA.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lvl="0"/>
            <a:r>
              <a:rPr lang="pt-BR" sz="1400" dirty="0"/>
              <a:t>GIANSANTI, Daniele; COSENZA, Claudia. Artificial </a:t>
            </a:r>
            <a:r>
              <a:rPr lang="pt-BR" sz="1400" dirty="0" err="1"/>
              <a:t>Intelligence</a:t>
            </a:r>
            <a:r>
              <a:rPr lang="pt-BR" sz="1400" dirty="0"/>
              <a:t> </a:t>
            </a:r>
            <a:r>
              <a:rPr lang="pt-BR" sz="1400" dirty="0" err="1"/>
              <a:t>and</a:t>
            </a:r>
            <a:r>
              <a:rPr lang="pt-BR" sz="1400" dirty="0"/>
              <a:t> Youth: </a:t>
            </a:r>
            <a:r>
              <a:rPr lang="pt-BR" sz="1400" dirty="0" err="1"/>
              <a:t>Cognitive</a:t>
            </a:r>
            <a:r>
              <a:rPr lang="pt-BR" sz="1400" dirty="0"/>
              <a:t>, </a:t>
            </a:r>
            <a:r>
              <a:rPr lang="pt-BR" sz="1400" dirty="0" err="1"/>
              <a:t>Educational</a:t>
            </a:r>
            <a:r>
              <a:rPr lang="pt-BR" sz="1400" dirty="0"/>
              <a:t>,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Behavioral</a:t>
            </a:r>
            <a:r>
              <a:rPr lang="pt-BR" sz="1400" dirty="0"/>
              <a:t> </a:t>
            </a:r>
            <a:r>
              <a:rPr lang="pt-BR" sz="1400" dirty="0" err="1"/>
              <a:t>Impacts</a:t>
            </a:r>
            <a:r>
              <a:rPr lang="pt-BR" sz="1400" dirty="0"/>
              <a:t>. </a:t>
            </a:r>
            <a:r>
              <a:rPr lang="pt-BR" sz="1400" b="1" dirty="0"/>
              <a:t>AI</a:t>
            </a:r>
            <a:r>
              <a:rPr lang="pt-BR" sz="1400" dirty="0"/>
              <a:t>, v. 7, n. 4, art. 121, p. 1-32, 2026.</a:t>
            </a:r>
          </a:p>
          <a:p>
            <a:pPr lvl="0"/>
            <a:r>
              <a:rPr lang="pt-BR" sz="1400" dirty="0"/>
              <a:t>KLARIN, Johan; HOFF, Eva; LARSSON, Adam; DAUKANTAITĖ, </a:t>
            </a:r>
            <a:r>
              <a:rPr lang="pt-BR" sz="1400" dirty="0" err="1"/>
              <a:t>Daiva</a:t>
            </a:r>
            <a:r>
              <a:rPr lang="pt-BR" sz="1400" dirty="0"/>
              <a:t>. </a:t>
            </a:r>
            <a:r>
              <a:rPr lang="pt-BR" sz="1400" dirty="0" err="1"/>
              <a:t>Adolescents</a:t>
            </a:r>
            <a:r>
              <a:rPr lang="pt-BR" sz="1400" dirty="0"/>
              <a:t>' use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perceived</a:t>
            </a:r>
            <a:r>
              <a:rPr lang="pt-BR" sz="1400" dirty="0"/>
              <a:t> </a:t>
            </a:r>
            <a:r>
              <a:rPr lang="pt-BR" sz="1400" dirty="0" err="1"/>
              <a:t>usefulness</a:t>
            </a:r>
            <a:r>
              <a:rPr lang="pt-BR" sz="1400" dirty="0"/>
              <a:t>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generative</a:t>
            </a:r>
            <a:r>
              <a:rPr lang="pt-BR" sz="1400" dirty="0"/>
              <a:t> AI for </a:t>
            </a:r>
            <a:r>
              <a:rPr lang="pt-BR" sz="1400" dirty="0" err="1"/>
              <a:t>schoolwork</a:t>
            </a:r>
            <a:r>
              <a:rPr lang="pt-BR" sz="1400" dirty="0"/>
              <a:t>: </a:t>
            </a:r>
            <a:r>
              <a:rPr lang="pt-BR" sz="1400" dirty="0" err="1"/>
              <a:t>exploring</a:t>
            </a:r>
            <a:r>
              <a:rPr lang="pt-BR" sz="1400" dirty="0"/>
              <a:t> </a:t>
            </a:r>
            <a:r>
              <a:rPr lang="pt-BR" sz="1400" dirty="0" err="1"/>
              <a:t>their</a:t>
            </a:r>
            <a:r>
              <a:rPr lang="pt-BR" sz="1400" dirty="0"/>
              <a:t> </a:t>
            </a:r>
            <a:r>
              <a:rPr lang="pt-BR" sz="1400" dirty="0" err="1"/>
              <a:t>relationships</a:t>
            </a:r>
            <a:r>
              <a:rPr lang="pt-BR" sz="1400" dirty="0"/>
              <a:t> </a:t>
            </a:r>
            <a:r>
              <a:rPr lang="pt-BR" sz="1400" dirty="0" err="1"/>
              <a:t>with</a:t>
            </a:r>
            <a:r>
              <a:rPr lang="pt-BR" sz="1400" dirty="0"/>
              <a:t> </a:t>
            </a:r>
            <a:r>
              <a:rPr lang="pt-BR" sz="1400" dirty="0" err="1"/>
              <a:t>executive</a:t>
            </a:r>
            <a:r>
              <a:rPr lang="pt-BR" sz="1400" dirty="0"/>
              <a:t> </a:t>
            </a:r>
            <a:r>
              <a:rPr lang="pt-BR" sz="1400" dirty="0" err="1"/>
              <a:t>functioning</a:t>
            </a:r>
            <a:r>
              <a:rPr lang="pt-BR" sz="1400" dirty="0"/>
              <a:t>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academic</a:t>
            </a:r>
            <a:r>
              <a:rPr lang="pt-BR" sz="1400" dirty="0"/>
              <a:t> </a:t>
            </a:r>
            <a:r>
              <a:rPr lang="pt-BR" sz="1400" dirty="0" err="1"/>
              <a:t>achievement</a:t>
            </a:r>
            <a:r>
              <a:rPr lang="pt-BR" sz="1400" dirty="0"/>
              <a:t>. </a:t>
            </a:r>
            <a:r>
              <a:rPr lang="pt-BR" sz="1400" b="1" dirty="0" err="1"/>
              <a:t>Frontiers</a:t>
            </a:r>
            <a:r>
              <a:rPr lang="pt-BR" sz="1400" b="1" dirty="0"/>
              <a:t> in Artificial </a:t>
            </a:r>
            <a:r>
              <a:rPr lang="pt-BR" sz="1400" b="1" dirty="0" err="1"/>
              <a:t>Intelligence</a:t>
            </a:r>
            <a:r>
              <a:rPr lang="pt-BR" sz="1400" dirty="0"/>
              <a:t>, v. 7, art. 1415782, p. 1-15, 2024.</a:t>
            </a:r>
          </a:p>
          <a:p>
            <a:pPr lvl="0"/>
            <a:r>
              <a:rPr lang="pt-BR" sz="1400" dirty="0"/>
              <a:t>MAIK, Piotr Zenon. The use </a:t>
            </a:r>
            <a:r>
              <a:rPr lang="pt-BR" sz="1400" dirty="0" err="1"/>
              <a:t>of</a:t>
            </a:r>
            <a:r>
              <a:rPr lang="pt-BR" sz="1400" dirty="0"/>
              <a:t> artificial </a:t>
            </a:r>
            <a:r>
              <a:rPr lang="pt-BR" sz="1400" dirty="0" err="1"/>
              <a:t>intelligence</a:t>
            </a:r>
            <a:r>
              <a:rPr lang="pt-BR" sz="1400" dirty="0"/>
              <a:t>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the</a:t>
            </a:r>
            <a:r>
              <a:rPr lang="pt-BR" sz="1400" dirty="0"/>
              <a:t> </a:t>
            </a:r>
            <a:r>
              <a:rPr lang="pt-BR" sz="1400" dirty="0" err="1"/>
              <a:t>intellectual</a:t>
            </a:r>
            <a:r>
              <a:rPr lang="pt-BR" sz="1400" dirty="0"/>
              <a:t> </a:t>
            </a:r>
            <a:r>
              <a:rPr lang="pt-BR" sz="1400" dirty="0" err="1"/>
              <a:t>development</a:t>
            </a:r>
            <a:r>
              <a:rPr lang="pt-BR" sz="1400" dirty="0"/>
              <a:t>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adolescents</a:t>
            </a:r>
            <a:r>
              <a:rPr lang="pt-BR" sz="1400" dirty="0"/>
              <a:t> – A </a:t>
            </a:r>
            <a:r>
              <a:rPr lang="pt-BR" sz="1400" dirty="0" err="1"/>
              <a:t>literature</a:t>
            </a:r>
            <a:r>
              <a:rPr lang="pt-BR" sz="1400" dirty="0"/>
              <a:t> review. </a:t>
            </a:r>
            <a:r>
              <a:rPr lang="pt-BR" sz="1400" b="1" dirty="0" err="1"/>
              <a:t>Rozprawy</a:t>
            </a:r>
            <a:r>
              <a:rPr lang="pt-BR" sz="1400" b="1" dirty="0"/>
              <a:t> </a:t>
            </a:r>
            <a:r>
              <a:rPr lang="pt-BR" sz="1400" b="1" dirty="0" err="1"/>
              <a:t>Społeczne</a:t>
            </a:r>
            <a:r>
              <a:rPr lang="pt-BR" sz="1400" b="1" dirty="0"/>
              <a:t> / Social </a:t>
            </a:r>
            <a:r>
              <a:rPr lang="pt-BR" sz="1400" b="1" dirty="0" err="1"/>
              <a:t>Dissertations</a:t>
            </a:r>
            <a:r>
              <a:rPr lang="pt-BR" sz="1400" dirty="0"/>
              <a:t>, v. 20, n. 1, p. 194-210, 2026.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Texto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citação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agradecimentos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 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informações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importantes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489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DANIEL ARES GONTIJO PINTO</cp:lastModifiedBy>
  <cp:revision>21</cp:revision>
  <dcterms:created xsi:type="dcterms:W3CDTF">2021-05-14T17:32:15Z</dcterms:created>
  <dcterms:modified xsi:type="dcterms:W3CDTF">2026-10-15T21:17:19Z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2026-10-15T21:17:15Z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375bee20-6a21-41da-842d-f33dd7651c7c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